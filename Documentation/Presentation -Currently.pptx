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8" r:id="rId4"/>
    <p:sldId id="263" r:id="rId5"/>
    <p:sldId id="265" r:id="rId6"/>
    <p:sldId id="264" r:id="rId7"/>
    <p:sldId id="262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827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CF0EC-74B0-454B-9353-3F8D61E81FC9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13DD1-8ED6-451F-B645-0421C58D77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9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13DD1-8ED6-451F-B645-0421C58D770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61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6925-C78C-93A9-A3CD-C5F0592D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0E2D3-A2BC-DEE3-598A-58E480742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634-7439-BB61-241A-8297FB4D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2CBA-4EA1-10AB-24ED-14B23212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F12E0-D540-0C91-E18D-A1C753E3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64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9066-B1F3-4250-A6C7-BDA0084C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676E2-E712-EC0A-0BBF-BF090DFF3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100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5897-9D5B-43F7-0B29-82A92434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01256-7749-66BB-3DAF-786BBFD5C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9C3D-0E1A-1418-617C-6F670417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7E4E-4781-F979-4490-504FDB86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CDF3C-9C12-1748-9963-D546E8B3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45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D8D7-9EC7-1FAC-A750-D8513445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8247-81EF-EC03-B01E-14A08E711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B16FE-D259-BA3D-6D98-8ADE038E4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63A8A-3852-B37D-097C-8945FA21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01B08-CB8E-1ED4-7DE7-4BFC62A5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698A3-D1EA-3252-F677-BF318E69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68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C78B-EF0C-3166-43E0-52F419BC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62E96-587F-2EE4-C9EF-CEC23667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0DD57-E3A8-85A9-5589-3BF5C1E1B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79250-4210-00E2-60BF-48509B26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A0691-76AF-542B-EB46-49A42E566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53A62-F86B-AE2C-7EEF-9BE03755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2F1CA-5DDE-9790-2195-B44C5C58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4115D-9235-A705-D5A6-7629E15C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62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6C52-B770-276B-EC11-38321A0D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81143-8E93-41CE-072D-CD8B6A0E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CFA86-13B6-724A-D404-CEBCEE1A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F1B56-9D46-70B3-0E09-0C7F81D7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16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84C68-A49E-0008-25A5-94F41868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5138F-43EF-44A3-B92C-33CC8531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3B592-4CA9-5AE4-40C1-F9069E79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70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8E66-48F4-6306-519E-4320149E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5105-AC1B-6E88-8C4A-98074D0C5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89AEB-8AF5-7815-CE45-620228EB3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02198-E809-17E9-FDF8-DE937F03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822A4-8016-9A12-221F-57E4AC69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28050-321A-752A-1FE3-6FE01134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B96-A26C-67AF-B9BD-6EBF74FB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A696A-8D47-BA25-3AE2-4519F18F5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581AC-D041-FED6-D78F-EE55DE979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4A7A7-5A19-C268-5372-05725DCB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2CFC-D34F-F915-DE9E-71A207AF9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586E5-17B5-7B15-812E-89D63D40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41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290-17E9-F034-7F3F-7293BFBD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A0FF5-6030-AE96-5C2F-33C955DFC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1E52E-8BE9-1DB0-27C9-26EDB5F3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6781-BFA6-91F9-A8C3-FE13268C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4541-5992-A3B6-6A3F-11BA6D3B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92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B8C08-C1AB-6EC6-0899-538895381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03E76-FCC9-3E55-51EE-DDBBA3E21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1972E-F3B6-66BA-2987-6E1F6D42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A3FA8-2A3B-9A32-D00D-1583CD99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EC4F2-0C4A-1767-680C-3C5C41A5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1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6FB9C-843A-959B-811C-96FA0658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05DE0-0332-FA51-95BF-FBA2C3E4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C4860-B913-9F2B-9D9D-69FB3709D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253F9-FAC6-48EC-AEB9-4677B1C8377A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6B9DA-B909-B66D-2A38-394E5B867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53D72-F406-EB0A-5E65-32C1770F7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201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7330E-F925-C903-5F03-5396DEBD1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765" y="1495956"/>
            <a:ext cx="6418471" cy="2692050"/>
          </a:xfrm>
        </p:spPr>
        <p:txBody>
          <a:bodyPr>
            <a:normAutofit/>
          </a:bodyPr>
          <a:lstStyle/>
          <a:p>
            <a:r>
              <a:rPr lang="en-GB" sz="5400" b="1">
                <a:solidFill>
                  <a:schemeClr val="bg1"/>
                </a:solidFill>
              </a:rPr>
              <a:t>Currently.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3AE0-BE17-4C9B-44E8-A12F3E6AA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765" y="4414123"/>
            <a:ext cx="6418471" cy="1017915"/>
          </a:xfrm>
        </p:spPr>
        <p:txBody>
          <a:bodyPr>
            <a:normAutofit/>
          </a:bodyPr>
          <a:lstStyle/>
          <a:p>
            <a:r>
              <a:rPr lang="en-GB" sz="1600" b="1">
                <a:solidFill>
                  <a:schemeClr val="bg1"/>
                </a:solidFill>
              </a:rPr>
              <a:t>Liam Connell</a:t>
            </a:r>
          </a:p>
          <a:p>
            <a:r>
              <a:rPr lang="en-GB" sz="1600" b="1">
                <a:solidFill>
                  <a:schemeClr val="bg1"/>
                </a:solidFill>
              </a:rPr>
              <a:t>X22511759</a:t>
            </a:r>
          </a:p>
          <a:p>
            <a:r>
              <a:rPr lang="en-GB" sz="1600" b="1">
                <a:solidFill>
                  <a:schemeClr val="bg1"/>
                </a:solidFill>
              </a:rPr>
              <a:t>Household Appliance Energy Monitoring System</a:t>
            </a: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2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0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407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FB11-B0E2-D203-0C5A-9B5BEA01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42" y="0"/>
            <a:ext cx="3449122" cy="1616203"/>
          </a:xfrm>
        </p:spPr>
        <p:txBody>
          <a:bodyPr anchor="b">
            <a:noAutofit/>
          </a:bodyPr>
          <a:lstStyle/>
          <a:p>
            <a:r>
              <a:rPr lang="en-GB" sz="3200" b="1" dirty="0"/>
              <a:t>What is Currently? An Overview.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F517-3600-5889-2799-CAC91A0B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67" y="1847675"/>
            <a:ext cx="3449122" cy="491126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GB" sz="1400" b="1" i="1" dirty="0"/>
              <a:t>Problem</a:t>
            </a:r>
          </a:p>
          <a:p>
            <a:r>
              <a:rPr lang="en-GB" sz="1400" dirty="0"/>
              <a:t>Rising electricity costs</a:t>
            </a:r>
          </a:p>
          <a:p>
            <a:r>
              <a:rPr lang="en-GB" sz="1400" dirty="0"/>
              <a:t>Electricity bills lack appliance-level visibility</a:t>
            </a:r>
          </a:p>
          <a:p>
            <a:r>
              <a:rPr lang="en-GB" sz="1400" dirty="0"/>
              <a:t>Users lack appliance level understanding</a:t>
            </a:r>
          </a:p>
          <a:p>
            <a:pPr marL="0" indent="0">
              <a:buNone/>
            </a:pPr>
            <a:r>
              <a:rPr lang="en-GB" sz="1400" b="1" i="1" dirty="0"/>
              <a:t>Solution</a:t>
            </a:r>
          </a:p>
          <a:p>
            <a:pPr marL="0" indent="0">
              <a:buNone/>
            </a:pPr>
            <a:r>
              <a:rPr lang="en-GB" sz="1400" dirty="0"/>
              <a:t>Currently is a full stack web app that:</a:t>
            </a:r>
          </a:p>
          <a:p>
            <a:r>
              <a:rPr lang="en-GB" sz="1400" dirty="0"/>
              <a:t>Models user household digitally</a:t>
            </a:r>
          </a:p>
          <a:p>
            <a:r>
              <a:rPr lang="en-GB" sz="1400" dirty="0"/>
              <a:t>Tracks appliances usage</a:t>
            </a:r>
          </a:p>
          <a:p>
            <a:r>
              <a:rPr lang="en-GB" sz="1400" dirty="0"/>
              <a:t>Estimates costs based usage</a:t>
            </a:r>
          </a:p>
          <a:p>
            <a:r>
              <a:rPr lang="en-GB" sz="1400" dirty="0"/>
              <a:t>Generates smart insights</a:t>
            </a:r>
          </a:p>
          <a:p>
            <a:pPr marL="0" indent="0">
              <a:buNone/>
            </a:pPr>
            <a:r>
              <a:rPr lang="en-GB" sz="1400" b="1" i="1" dirty="0"/>
              <a:t>Key Differentiator</a:t>
            </a:r>
          </a:p>
          <a:p>
            <a:r>
              <a:rPr lang="en-GB" sz="1400" dirty="0"/>
              <a:t>No hardware needed</a:t>
            </a:r>
          </a:p>
          <a:p>
            <a:r>
              <a:rPr lang="en-GB" sz="1400" dirty="0"/>
              <a:t>Appliance and room level analytics</a:t>
            </a:r>
          </a:p>
          <a:p>
            <a:r>
              <a:rPr lang="en-GB" sz="1400" dirty="0"/>
              <a:t>All user data is handled with secure focused architecture in mind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CF67C-EB3A-8CAD-1F75-5C86B6F1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93"/>
          <a:stretch>
            <a:fillRect/>
          </a:stretch>
        </p:blipFill>
        <p:spPr>
          <a:xfrm>
            <a:off x="8399585" y="209175"/>
            <a:ext cx="2512748" cy="18228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12D73D-EE82-19DB-C98F-9AC62CB3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607"/>
          <a:stretch>
            <a:fillRect/>
          </a:stretch>
        </p:blipFill>
        <p:spPr>
          <a:xfrm>
            <a:off x="8416456" y="4436628"/>
            <a:ext cx="2506971" cy="18770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D07199-4D9D-3781-EDEA-A4C2F53330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589" y="1598055"/>
            <a:ext cx="4049805" cy="4049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5E5555-426F-BB8C-C58B-695ED969B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456" y="2295776"/>
            <a:ext cx="2517029" cy="18770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65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0D22A-12FB-5CE9-E413-C9142012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 Stack</a:t>
            </a:r>
          </a:p>
        </p:txBody>
      </p:sp>
      <p:sp>
        <p:nvSpPr>
          <p:cNvPr id="7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A5FC85-46F7-9830-E516-E6E49216FFB8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Frontend:</a:t>
            </a:r>
            <a:r>
              <a:rPr lang="en-US" sz="1700" dirty="0"/>
              <a:t> React single-page application built with Vite and CSS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Backend:</a:t>
            </a:r>
            <a:r>
              <a:rPr lang="en-US" sz="1700" dirty="0"/>
              <a:t> Java Spring Boot REST API built with     Maven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Database:</a:t>
            </a:r>
            <a:r>
              <a:rPr lang="en-US" sz="1700" dirty="0"/>
              <a:t> PostgreSQL database accessed through JPA / Hibernate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Security:</a:t>
            </a:r>
            <a:r>
              <a:rPr lang="en-US" sz="1700" dirty="0"/>
              <a:t> Spring Security, JWT authentication and </a:t>
            </a:r>
            <a:r>
              <a:rPr lang="en-US" sz="1700" dirty="0" err="1"/>
              <a:t>BCrypt</a:t>
            </a:r>
            <a:r>
              <a:rPr lang="en-US" sz="1700" dirty="0"/>
              <a:t> password hashing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Tools:</a:t>
            </a:r>
            <a:r>
              <a:rPr lang="en-US" sz="1700" dirty="0"/>
              <a:t> Postman for API testing, GitHub for version control, PlantUML for diagrams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Deployment:</a:t>
            </a:r>
            <a:r>
              <a:rPr lang="en-US" sz="1700" dirty="0"/>
              <a:t> Frontend on </a:t>
            </a:r>
            <a:r>
              <a:rPr lang="en-US" sz="1700" dirty="0" err="1"/>
              <a:t>Vercel</a:t>
            </a:r>
            <a:r>
              <a:rPr lang="en-US" sz="1700" dirty="0"/>
              <a:t>, backend on       Render, database on Neon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308A61-1526-61C9-B883-AAD8691D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62" y="919480"/>
            <a:ext cx="4462271" cy="55778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32E921-EEFB-3830-0FF6-394AC64B7DAD}"/>
              </a:ext>
            </a:extLst>
          </p:cNvPr>
          <p:cNvSpPr txBox="1"/>
          <p:nvPr/>
        </p:nvSpPr>
        <p:spPr>
          <a:xfrm>
            <a:off x="2733798" y="30554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08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27535-58C3-F8D7-1DFF-F3DC52D43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GB" sz="4000" b="1"/>
              <a:t>Currently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2B484-0758-B17A-9089-5F98B8A2D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r>
              <a:rPr lang="en-GB" sz="1400"/>
              <a:t>User accesses the React app through the browser</a:t>
            </a:r>
          </a:p>
          <a:p>
            <a:r>
              <a:rPr lang="en-GB" sz="1400"/>
              <a:t>React frontend sends HTTPS / JSON requests to the Spring Boot backend</a:t>
            </a:r>
          </a:p>
          <a:p>
            <a:r>
              <a:rPr lang="en-GB" sz="1400"/>
              <a:t>JWT bearer tokens protect private routes and user-specific API requests</a:t>
            </a:r>
          </a:p>
          <a:p>
            <a:r>
              <a:rPr lang="en-GB" sz="1400"/>
              <a:t>Spring Security checks requests before they reach backend controllers</a:t>
            </a:r>
          </a:p>
          <a:p>
            <a:r>
              <a:rPr lang="en-GB" sz="1400"/>
              <a:t>Service layer handles validation, ownership checks, energy calculations and Smart Insights</a:t>
            </a:r>
          </a:p>
          <a:p>
            <a:r>
              <a:rPr lang="en-GB" sz="1400"/>
              <a:t>JPA / Hibernate connects the backend to the Neon PostgreSQL database</a:t>
            </a:r>
          </a:p>
          <a:p>
            <a:r>
              <a:rPr lang="en-GB" sz="1400"/>
              <a:t>Static appliance reference data is loaded from appliances.json</a:t>
            </a:r>
          </a:p>
          <a:p>
            <a:endParaRPr lang="en-GB" sz="1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B94DD-AA49-488F-51DD-9EBE4B5D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707" y="336176"/>
            <a:ext cx="6719471" cy="617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8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02255-6AC7-534B-E71F-396506B4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259517"/>
            <a:ext cx="4080362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Makes </a:t>
            </a:r>
            <a:r>
              <a:rPr lang="en-US" sz="4000" b="1" dirty="0"/>
              <a:t>Currently</a:t>
            </a: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“Smart”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C888C-811A-2C31-1A01-C370EFB8C071}"/>
              </a:ext>
            </a:extLst>
          </p:cNvPr>
          <p:cNvSpPr txBox="1"/>
          <p:nvPr/>
        </p:nvSpPr>
        <p:spPr>
          <a:xfrm>
            <a:off x="761804" y="1852161"/>
            <a:ext cx="4080361" cy="3769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Created as the app’s key differentiating feature after supervisor feedback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Originally considered AI, but implemented using explainable heuristic </a:t>
            </a:r>
            <a:r>
              <a:rPr lang="en-US" sz="1400" err="1"/>
              <a:t>maths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Analyses the user’s current appliances, rooms, usage and tariff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Identifies high-cost appliances and high-usage rooms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Generates practical recommendations, not just raw energy data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Shows estimated weekly and monthly savings impact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Labels each insight by category, confidence and reference data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“Generate More” returns extra recommendations in batches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6D6610-E3E7-67C7-20E3-7D71BF53E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259517"/>
            <a:ext cx="4826197" cy="3185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CC40BA-5725-7F59-59EC-76DD74470596}"/>
              </a:ext>
            </a:extLst>
          </p:cNvPr>
          <p:cNvSpPr txBox="1"/>
          <p:nvPr/>
        </p:nvSpPr>
        <p:spPr>
          <a:xfrm>
            <a:off x="5765800" y="3608135"/>
            <a:ext cx="57784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How It 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111827"/>
                </a:solidFill>
              </a:rPr>
              <a:t>Generates recommendation candidates from appliances, rooms, usage and tariff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111827"/>
                </a:solidFill>
              </a:rPr>
              <a:t>Uses heuristic maths instead of AI so results are explainable and testable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111827"/>
                </a:solidFill>
              </a:rPr>
              <a:t>Scores each insight by </a:t>
            </a:r>
            <a:r>
              <a:rPr lang="en-GB" sz="1200" b="1">
                <a:solidFill>
                  <a:srgbClr val="111827"/>
                </a:solidFill>
              </a:rPr>
              <a:t>monthly impact</a:t>
            </a:r>
            <a:r>
              <a:rPr lang="en-GB" sz="1200">
                <a:solidFill>
                  <a:srgbClr val="111827"/>
                </a:solidFill>
              </a:rPr>
              <a:t>, </a:t>
            </a:r>
            <a:r>
              <a:rPr lang="en-GB" sz="1200" b="1">
                <a:solidFill>
                  <a:srgbClr val="111827"/>
                </a:solidFill>
              </a:rPr>
              <a:t>feasibility</a:t>
            </a:r>
            <a:r>
              <a:rPr lang="en-GB" sz="1200">
                <a:solidFill>
                  <a:srgbClr val="111827"/>
                </a:solidFill>
              </a:rPr>
              <a:t> and </a:t>
            </a:r>
            <a:r>
              <a:rPr lang="en-GB" sz="1200" b="1">
                <a:solidFill>
                  <a:srgbClr val="111827"/>
                </a:solidFill>
              </a:rPr>
              <a:t>confidence</a:t>
            </a:r>
            <a:endParaRPr lang="en-GB" sz="1200">
              <a:solidFill>
                <a:srgbClr val="111827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111827"/>
                </a:solidFill>
              </a:rPr>
              <a:t>Filters weaker recommendations and limits repeated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rgbClr val="111827"/>
                </a:solidFill>
              </a:rPr>
              <a:t>Returns recommendations in batches through the “Generate More” feature if there is any more to suggest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9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1EB2-7913-6A12-C7E6-28AFB12A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9" y="393335"/>
            <a:ext cx="2443772" cy="5498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/>
              <a:t>Cyber Aspect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C8B54-F762-C4B4-0F1A-207AFD400343}"/>
              </a:ext>
            </a:extLst>
          </p:cNvPr>
          <p:cNvSpPr txBox="1"/>
          <p:nvPr/>
        </p:nvSpPr>
        <p:spPr>
          <a:xfrm>
            <a:off x="230188" y="1245696"/>
            <a:ext cx="3682705" cy="379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registration and login using Spring Security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Passwords and vault PINs hashed with </a:t>
            </a:r>
            <a:r>
              <a:rPr lang="en-US" sz="1600" dirty="0" err="1"/>
              <a:t>BCrypt</a:t>
            </a: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JWT authentication for protected API routes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Ownership checks prevent users accessing other users’ data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Input validation on backend request data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CORS allowlist controls which frontend origins can call the API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Rate limiting protects sensitive endpoints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Sensitive user data is handled securely with encryption/hash fields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096035-1738-4922-53E3-B75BDE6D3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365" y="5271401"/>
            <a:ext cx="9183447" cy="9183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BA0E39-B819-CCD5-F6BD-B5D8A125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432" y="983604"/>
            <a:ext cx="3823380" cy="350795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320387-1F17-A633-3832-A4F236984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741" y="435889"/>
            <a:ext cx="3682706" cy="4603383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12500"/>
          </a:effec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50A0A18D-98B4-40E5-4078-A318C9554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102A9A7-35A0-25BE-8907-0AB62C454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28BDF14-9776-769C-B15E-E2D6BA4DC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769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045BF01-625E-4022-91E5-488DB3FCB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0658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312B6-DE6A-1284-E5FB-0AEE8023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69" y="640080"/>
            <a:ext cx="3703320" cy="1366528"/>
          </a:xfrm>
          <a:solidFill>
            <a:schemeClr val="tx1">
              <a:alpha val="50000"/>
            </a:schemeClr>
          </a:solidFill>
          <a:ln w="25400" cap="sq" cmpd="sng">
            <a:solidFill>
              <a:schemeClr val="bg1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Testing</a:t>
            </a: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E442549-290E-4B7E-892E-F2DB911DD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7" y="-2"/>
            <a:ext cx="753770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62D7C1-C0E9-FC82-5844-457162A51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4377" y="640080"/>
            <a:ext cx="6049953" cy="25238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700" dirty="0"/>
              <a:t>Backend tested using </a:t>
            </a:r>
            <a:r>
              <a:rPr lang="en-US" sz="1700" b="1" dirty="0"/>
              <a:t>JUnit 5, Mockito, Spring Boot Test, </a:t>
            </a:r>
            <a:r>
              <a:rPr lang="en-US" sz="1700" b="1" dirty="0" err="1"/>
              <a:t>MockMvc</a:t>
            </a:r>
            <a:r>
              <a:rPr lang="en-US" sz="1700" b="1" dirty="0"/>
              <a:t> and Maven</a:t>
            </a:r>
            <a:endParaRPr lang="en-US" sz="1700" dirty="0"/>
          </a:p>
          <a:p>
            <a:r>
              <a:rPr lang="en-US" sz="1700" dirty="0"/>
              <a:t>Used a mix of:</a:t>
            </a:r>
          </a:p>
          <a:p>
            <a:pPr lvl="1"/>
            <a:r>
              <a:rPr lang="en-US" sz="1700" b="1" dirty="0"/>
              <a:t>Unit testing</a:t>
            </a:r>
            <a:r>
              <a:rPr lang="en-US" sz="1700" dirty="0"/>
              <a:t> for service logic</a:t>
            </a:r>
          </a:p>
          <a:p>
            <a:pPr lvl="1"/>
            <a:r>
              <a:rPr lang="en-US" sz="1700" b="1" dirty="0"/>
              <a:t>Integration testing</a:t>
            </a:r>
            <a:r>
              <a:rPr lang="en-US" sz="1700" dirty="0"/>
              <a:t> for API endpoints</a:t>
            </a:r>
          </a:p>
          <a:p>
            <a:pPr lvl="1"/>
            <a:r>
              <a:rPr lang="en-US" sz="1700" b="1" dirty="0"/>
              <a:t>End-to-end backend journey testing</a:t>
            </a:r>
            <a:r>
              <a:rPr lang="en-US" sz="1700" dirty="0"/>
              <a:t> using </a:t>
            </a:r>
            <a:r>
              <a:rPr lang="en-US" sz="1700" dirty="0" err="1"/>
              <a:t>MockMvc</a:t>
            </a:r>
            <a:endParaRPr lang="en-US" sz="1700" dirty="0"/>
          </a:p>
          <a:p>
            <a:pPr lvl="1"/>
            <a:r>
              <a:rPr lang="en-US" sz="1700" b="1" dirty="0"/>
              <a:t>Persistence testing</a:t>
            </a:r>
            <a:r>
              <a:rPr lang="en-US" sz="1700" dirty="0"/>
              <a:t> for database rules and relationships</a:t>
            </a:r>
          </a:p>
          <a:p>
            <a:pPr lvl="1"/>
            <a:r>
              <a:rPr lang="en-US" sz="1700" b="1" dirty="0"/>
              <a:t>Security/ownership testing</a:t>
            </a:r>
            <a:r>
              <a:rPr lang="en-US" sz="1700" dirty="0"/>
              <a:t> for protected user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17BE5-9167-A02B-0FEA-B41857917331}"/>
              </a:ext>
            </a:extLst>
          </p:cNvPr>
          <p:cNvSpPr txBox="1"/>
          <p:nvPr/>
        </p:nvSpPr>
        <p:spPr>
          <a:xfrm>
            <a:off x="5294377" y="3671317"/>
            <a:ext cx="6059423" cy="2505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Initial full test run found </a:t>
            </a:r>
            <a:r>
              <a:rPr lang="en-US" sz="2000" b="1" dirty="0"/>
              <a:t>5 failures and 4 errors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After debugging and retesting: </a:t>
            </a:r>
            <a:r>
              <a:rPr lang="en-US" sz="2000" b="1" dirty="0"/>
              <a:t>39 tests passed, 0 failures, 0 errors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Evidence recorded in </a:t>
            </a:r>
            <a:r>
              <a:rPr lang="en-US" sz="2000" b="1" dirty="0"/>
              <a:t>Test Report #1</a:t>
            </a:r>
            <a:r>
              <a:rPr lang="en-US" sz="2000" dirty="0"/>
              <a:t> and </a:t>
            </a:r>
            <a:r>
              <a:rPr lang="en-US" sz="2000" b="1" dirty="0"/>
              <a:t>Test Report #2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39FCB9-925E-B430-57AC-CEA634AC8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69" y="2502708"/>
            <a:ext cx="3705255" cy="2249988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3F184802-BE74-E91A-F5D3-DF636B6BF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940" y="5248797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4E112F-02E0-271A-3922-255009CF1D1E}"/>
              </a:ext>
            </a:extLst>
          </p:cNvPr>
          <p:cNvSpPr txBox="1"/>
          <p:nvPr/>
        </p:nvSpPr>
        <p:spPr>
          <a:xfrm>
            <a:off x="1506279" y="5352054"/>
            <a:ext cx="2827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39 Automated Backend Tests Passed</a:t>
            </a:r>
          </a:p>
        </p:txBody>
      </p:sp>
    </p:spTree>
    <p:extLst>
      <p:ext uri="{BB962C8B-B14F-4D97-AF65-F5344CB8AC3E}">
        <p14:creationId xmlns:p14="http://schemas.microsoft.com/office/powerpoint/2010/main" val="3517462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ECEFC-879B-BAA3-A37E-823BA24C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GB" b="1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F5A5-565D-572E-13FC-6CEA29715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2443919"/>
          </a:xfrm>
        </p:spPr>
        <p:txBody>
          <a:bodyPr>
            <a:normAutofit/>
          </a:bodyPr>
          <a:lstStyle/>
          <a:p>
            <a:r>
              <a:rPr lang="en-GB" sz="2000" dirty="0"/>
              <a:t>Dashboard</a:t>
            </a:r>
          </a:p>
          <a:p>
            <a:r>
              <a:rPr lang="en-GB" sz="2000" dirty="0"/>
              <a:t>Map My House</a:t>
            </a:r>
          </a:p>
          <a:p>
            <a:r>
              <a:rPr lang="en-GB" sz="2000" dirty="0"/>
              <a:t>My Appliances</a:t>
            </a:r>
          </a:p>
          <a:p>
            <a:r>
              <a:rPr lang="en-GB" sz="2000" dirty="0"/>
              <a:t>Watch Your Watts and Bills Vault</a:t>
            </a:r>
          </a:p>
          <a:p>
            <a:r>
              <a:rPr lang="en-GB" sz="2000" dirty="0"/>
              <a:t>Smart Insights</a:t>
            </a:r>
          </a:p>
          <a:p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57CFD-FE4B-E790-E9ED-53726AD09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810" y="643234"/>
            <a:ext cx="4479899" cy="55998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88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10B981"/>
      </a:dk1>
      <a:lt1>
        <a:srgbClr val="F3F4F6"/>
      </a:lt1>
      <a:dk2>
        <a:srgbClr val="111827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534</Words>
  <Application>Microsoft Office PowerPoint</Application>
  <PresentationFormat>Widescreen</PresentationFormat>
  <Paragraphs>77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Currently.</vt:lpstr>
      <vt:lpstr>What is Currently? An Overview.</vt:lpstr>
      <vt:lpstr>Tech Stack</vt:lpstr>
      <vt:lpstr>Currently Architecture</vt:lpstr>
      <vt:lpstr>What Makes Currently “Smart”</vt:lpstr>
      <vt:lpstr>Cyber Aspect</vt:lpstr>
      <vt:lpstr>Testing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connell</dc:creator>
  <cp:lastModifiedBy>liam connell</cp:lastModifiedBy>
  <cp:revision>2</cp:revision>
  <dcterms:created xsi:type="dcterms:W3CDTF">2025-12-12T16:32:09Z</dcterms:created>
  <dcterms:modified xsi:type="dcterms:W3CDTF">2026-05-13T15:29:45Z</dcterms:modified>
</cp:coreProperties>
</file>